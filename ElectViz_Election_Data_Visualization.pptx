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70" r:id="rId8"/>
    <p:sldId id="261" r:id="rId9"/>
    <p:sldId id="269" r:id="rId10"/>
    <p:sldId id="262" r:id="rId11"/>
    <p:sldId id="268" r:id="rId12"/>
    <p:sldId id="263" r:id="rId13"/>
    <p:sldId id="272" r:id="rId14"/>
    <p:sldId id="264" r:id="rId15"/>
    <p:sldId id="265" r:id="rId16"/>
    <p:sldId id="267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14B22-9FD7-4462-83D6-67514217E056}" v="5" dt="2026-03-02T11:15:16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1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Payal1726/Infosys_ElectViz-Election-Data-Visualization-for-Media-Team-A-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FEB737-ACF7-4BC0-E896-B8F3A8BE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58072"/>
            <a:ext cx="7772400" cy="240011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spcBef>
                <a:spcPct val="20000"/>
              </a:spcBef>
            </a:pPr>
            <a:br>
              <a:rPr lang="en-US" sz="3000" b="1" dirty="0"/>
            </a:br>
            <a:r>
              <a:rPr lang="en-US" sz="3600" b="1" dirty="0"/>
              <a:t>Electviz: Election Data Visualization for Media</a:t>
            </a:r>
            <a:endParaRPr lang="en-US" sz="3600" b="1" dirty="0"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sz="3600" b="1" dirty="0"/>
              <a:t>Power BI Based Election Analytics Platform</a:t>
            </a:r>
            <a:endParaRPr lang="en-US" sz="3600" b="1" dirty="0">
              <a:ea typeface="Calibri"/>
              <a:cs typeface="Calibri"/>
            </a:endParaRPr>
          </a:p>
          <a:p>
            <a:endParaRPr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28F93-A7E0-A793-63FC-F490AD718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06984" y="-3790"/>
            <a:ext cx="1634468" cy="16344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87A7B-CC3D-7464-0D47-0B638285A6FE}"/>
              </a:ext>
            </a:extLst>
          </p:cNvPr>
          <p:cNvSpPr txBox="1"/>
          <p:nvPr/>
        </p:nvSpPr>
        <p:spPr>
          <a:xfrm>
            <a:off x="6187669" y="4359466"/>
            <a:ext cx="2653823" cy="20005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u="sng"/>
              <a:t>PRESENTED BY TEAM A</a:t>
            </a:r>
            <a:endParaRPr lang="en-IN" b="1" u="sng">
              <a:ea typeface="Calibri"/>
              <a:cs typeface="Calibri"/>
            </a:endParaRPr>
          </a:p>
          <a:p>
            <a:pPr algn="ctr"/>
            <a:r>
              <a:rPr lang="en-IN"/>
              <a:t>Payal Shinde</a:t>
            </a:r>
            <a:br>
              <a:rPr lang="en-IN">
                <a:ea typeface="Calibri"/>
                <a:cs typeface="Calibri"/>
              </a:rPr>
            </a:br>
            <a:r>
              <a:rPr lang="en-IN"/>
              <a:t>Mohammad Saad</a:t>
            </a:r>
            <a:endParaRPr lang="en-IN">
              <a:ea typeface="Calibri"/>
              <a:cs typeface="Calibri"/>
            </a:endParaRPr>
          </a:p>
          <a:p>
            <a:pPr algn="ctr"/>
            <a:r>
              <a:rPr lang="en-IN">
                <a:ea typeface="Calibri"/>
                <a:cs typeface="Calibri"/>
              </a:rPr>
              <a:t>Jyothi Reddy</a:t>
            </a:r>
          </a:p>
          <a:p>
            <a:pPr algn="ctr"/>
            <a:r>
              <a:rPr lang="en-IN">
                <a:ea typeface="Calibri"/>
                <a:cs typeface="Calibri"/>
              </a:rPr>
              <a:t>Gowtham Mani</a:t>
            </a:r>
          </a:p>
          <a:p>
            <a:pPr algn="ctr"/>
            <a:r>
              <a:rPr lang="en-IN"/>
              <a:t>Kumari Divya Sree</a:t>
            </a:r>
            <a:br>
              <a:rPr lang="en-IN">
                <a:ea typeface="Calibri"/>
                <a:cs typeface="Calibri"/>
              </a:rPr>
            </a:br>
            <a:endParaRPr lang="en-IN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F4BA8-AEDE-852F-3332-8CEF7604391E}"/>
              </a:ext>
            </a:extLst>
          </p:cNvPr>
          <p:cNvSpPr txBox="1"/>
          <p:nvPr/>
        </p:nvSpPr>
        <p:spPr>
          <a:xfrm>
            <a:off x="966803" y="3856026"/>
            <a:ext cx="37183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Github:</a:t>
            </a:r>
            <a:r>
              <a:rPr lang="en-US">
                <a:ea typeface="+mn-lt"/>
                <a:cs typeface="+mn-lt"/>
                <a:hlinkClick r:id="rId5"/>
              </a:rPr>
              <a:t>https://github.com/Payal1726/Infosys_ElectViz-Election-Data-Visualization-for-Media-Team-A-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B18BA8-489F-FD8D-4F7F-22F65EEF8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1469" y="273658"/>
            <a:ext cx="4541062" cy="571990"/>
          </a:xfrm>
        </p:spPr>
        <p:txBody>
          <a:bodyPr>
            <a:normAutofit fontScale="90000"/>
          </a:bodyPr>
          <a:lstStyle/>
          <a:p>
            <a:r>
              <a:rPr b="1"/>
              <a:t>Problem Statement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84D29F-FCED-D1F2-3C36-05155326710C}"/>
              </a:ext>
            </a:extLst>
          </p:cNvPr>
          <p:cNvSpPr/>
          <p:nvPr/>
        </p:nvSpPr>
        <p:spPr>
          <a:xfrm>
            <a:off x="470883" y="1311862"/>
            <a:ext cx="8202234" cy="4566423"/>
          </a:xfrm>
          <a:prstGeom prst="roundRect">
            <a:avLst>
              <a:gd name="adj" fmla="val 748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/>
              <a:t>During elections, media organizations operate in a fast-paced and high-pressure environment where timely and accurate information is critical. Election data is vast, complex, and collected from multiple sources, making it challenging to organize, analyze, and present in a meaningful way. Without a structured and interactive system, understanding trends such as vote share, turnout patterns, party performance, and constituency-level results becomes difficult. Therefore, there is a need for a centralized and dynamic dashboard solution that transforms raw election data into clear, insightful visual reports, enabling journalists and editorial teams to deliver precise, data-driven coverage to the public.</a:t>
            </a:r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7F31C1B1-D777-2D31-042F-CB51815D6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4B36E5-43AC-0959-11A3-882B325E1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/>
              <a:t>Project Objectives</a:t>
            </a:r>
            <a:endParaRPr lang="en-US" sz="4000" b="1">
              <a:ea typeface="Calibri"/>
              <a:cs typeface="Calibri"/>
            </a:endParaRP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D44CA754-DE19-6288-F3AB-7B015B68E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5C1A30-B560-3246-B892-747680592717}"/>
              </a:ext>
            </a:extLst>
          </p:cNvPr>
          <p:cNvSpPr/>
          <p:nvPr/>
        </p:nvSpPr>
        <p:spPr>
          <a:xfrm>
            <a:off x="360831" y="1515039"/>
            <a:ext cx="8299077" cy="3816721"/>
          </a:xfrm>
          <a:prstGeom prst="roundRect">
            <a:avLst>
              <a:gd name="adj" fmla="val 1180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Integrate public election datasets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Enable real-time result tracking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Provide vote share and turnout analysis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r>
              <a:rPr lang="en-US" sz="3200" baseline="0">
                <a:latin typeface="Calibri"/>
                <a:ea typeface="Segoe UI"/>
                <a:cs typeface="Segoe UI"/>
              </a:rPr>
              <a:t>• Support party and </a:t>
            </a:r>
            <a:r>
              <a:rPr lang="en-US" sz="3200">
                <a:latin typeface="Calibri"/>
                <a:ea typeface="Segoe UI"/>
                <a:cs typeface="Segoe UI"/>
              </a:rPr>
              <a:t>candidate performance    </a:t>
            </a:r>
          </a:p>
          <a:p>
            <a:r>
              <a:rPr lang="en-US" sz="3200">
                <a:latin typeface="Calibri"/>
                <a:ea typeface="Segoe UI"/>
                <a:cs typeface="Segoe UI"/>
              </a:rPr>
              <a:t>  evaluation​</a:t>
            </a:r>
            <a:endParaRPr lang="en-US"/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Deliver broadcast-ready visual dashboards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5A04BF-CE8D-C558-8E09-6A563DA6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/>
              <a:t>Key Outcomes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B387E03C-BFB3-8C18-CD5E-0C37FF918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64A8A9-68EE-7673-FB40-A93553CA7B4F}"/>
              </a:ext>
            </a:extLst>
          </p:cNvPr>
          <p:cNvSpPr/>
          <p:nvPr/>
        </p:nvSpPr>
        <p:spPr>
          <a:xfrm>
            <a:off x="405653" y="1201271"/>
            <a:ext cx="8321487" cy="4489075"/>
          </a:xfrm>
          <a:prstGeom prst="roundRect">
            <a:avLst>
              <a:gd name="adj" fmla="val 1222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>
                <a:latin typeface="Calibri"/>
                <a:ea typeface="Segoe UI"/>
                <a:cs typeface="Segoe UI"/>
              </a:rPr>
              <a:t> </a:t>
            </a:r>
            <a:r>
              <a:rPr lang="en-US" sz="3200" baseline="0">
                <a:latin typeface="Calibri"/>
                <a:ea typeface="Segoe UI"/>
                <a:cs typeface="Segoe UI"/>
              </a:rPr>
              <a:t>Unified election data (state &amp; national levels)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 Real-time election result tracking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Party-wise &amp; candidate-wise dashboards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Geographic mapping of results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AI-driven keyword clustering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Scalable model for future election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9982C9-73C5-A78F-FA7E-58A0D2643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24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Module 1 – Data Integration &amp; Modeling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A5E9FFEF-66CE-2CAC-5950-C39B4D934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A4075F-CCC2-0255-293C-A72C4C95F4EB}"/>
              </a:ext>
            </a:extLst>
          </p:cNvPr>
          <p:cNvSpPr/>
          <p:nvPr/>
        </p:nvSpPr>
        <p:spPr>
          <a:xfrm>
            <a:off x="618565" y="1526241"/>
            <a:ext cx="8052546" cy="4298576"/>
          </a:xfrm>
          <a:prstGeom prst="roundRect">
            <a:avLst>
              <a:gd name="adj" fmla="val 931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Imported data from CSV, Excel, APIs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r>
              <a:rPr lang="en-US" sz="3200" baseline="0">
                <a:latin typeface="Calibri"/>
                <a:ea typeface="Segoe UI"/>
                <a:cs typeface="Segoe UI"/>
              </a:rPr>
              <a:t>• Cleaned &amp; normalized constituency </a:t>
            </a:r>
            <a:r>
              <a:rPr lang="en-US" sz="3200">
                <a:latin typeface="Calibri"/>
                <a:ea typeface="Segoe UI"/>
                <a:cs typeface="Segoe UI"/>
              </a:rPr>
              <a:t>and candidate</a:t>
            </a:r>
            <a:r>
              <a:rPr lang="en-US" sz="3200" baseline="0">
                <a:latin typeface="Calibri"/>
                <a:ea typeface="Segoe UI"/>
                <a:cs typeface="Segoe UI"/>
              </a:rPr>
              <a:t> data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Created Star Schema model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 </a:t>
            </a:r>
            <a:r>
              <a:rPr lang="en-US" sz="3200" baseline="0" err="1">
                <a:latin typeface="Calibri"/>
                <a:ea typeface="Segoe UI"/>
                <a:cs typeface="Segoe UI"/>
              </a:rPr>
              <a:t>Fact_ElectionResults</a:t>
            </a:r>
            <a:r>
              <a:rPr lang="en-US" sz="3200" baseline="0">
                <a:latin typeface="Calibri"/>
                <a:ea typeface="Segoe UI"/>
                <a:cs typeface="Segoe UI"/>
              </a:rPr>
              <a:t> &amp; Dimension Tables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r>
              <a:rPr lang="en-US" sz="3200" baseline="0">
                <a:latin typeface="Calibri"/>
                <a:ea typeface="Segoe UI"/>
                <a:cs typeface="Segoe UI"/>
              </a:rPr>
              <a:t>• Established relationships </a:t>
            </a:r>
            <a:r>
              <a:rPr lang="en-US" sz="3200">
                <a:latin typeface="Calibri"/>
                <a:ea typeface="Segoe UI"/>
                <a:cs typeface="Segoe UI"/>
              </a:rPr>
              <a:t>for accurate reporting​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0D3B18-4D58-EC0A-49B2-FF65BBD2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24"/>
            <a:ext cx="9144000" cy="6858000"/>
          </a:xfrm>
          <a:prstGeom prst="rect">
            <a:avLst/>
          </a:prstGeom>
        </p:spPr>
      </p:pic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D71BBC67-6655-B248-5AD2-943512039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64" y="1292399"/>
            <a:ext cx="8194111" cy="4857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50A008-14A2-D0F6-979B-8DB7C6652F85}"/>
              </a:ext>
            </a:extLst>
          </p:cNvPr>
          <p:cNvSpPr txBox="1"/>
          <p:nvPr/>
        </p:nvSpPr>
        <p:spPr>
          <a:xfrm>
            <a:off x="952791" y="308256"/>
            <a:ext cx="701983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Calibri"/>
                <a:cs typeface="Calibri"/>
              </a:rPr>
              <a:t>Data Integration &amp;Modeling</a:t>
            </a:r>
            <a:endParaRPr lang="en-US" sz="40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DF28B600-FD9B-352B-B474-330955D54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2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orange and green lines&#10;&#10;AI-generated content may be incorrect.">
            <a:extLst>
              <a:ext uri="{FF2B5EF4-FFF2-40B4-BE49-F238E27FC236}">
                <a16:creationId xmlns:a16="http://schemas.microsoft.com/office/drawing/2014/main" id="{726F102D-3F69-2E56-A6B0-43539BB3C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24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9A7975-8F86-67BD-4576-72B062B893FC}"/>
              </a:ext>
            </a:extLst>
          </p:cNvPr>
          <p:cNvSpPr txBox="1"/>
          <p:nvPr/>
        </p:nvSpPr>
        <p:spPr>
          <a:xfrm>
            <a:off x="952791" y="308256"/>
            <a:ext cx="701983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Calibri"/>
                <a:cs typeface="Calibri"/>
              </a:rPr>
              <a:t>Data Integration &amp;Modeling</a:t>
            </a:r>
            <a:endParaRPr lang="en-US" sz="40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F65D904F-3F03-A196-0BB3-65CA78BBD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71AACF-87CB-109F-9395-A058B8EC6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067" y="1188526"/>
            <a:ext cx="8486461" cy="44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21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0FF47E-3292-90A0-07E9-2FE748994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Module 2 – </a:t>
            </a:r>
            <a:r>
              <a:rPr lang="en-US" b="1"/>
              <a:t>Historical Trends Dashboard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AA07D5AA-6263-2C4B-F733-D07DEBADE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8D4914-0466-3EB0-5EE4-1D079C062C6C}"/>
              </a:ext>
            </a:extLst>
          </p:cNvPr>
          <p:cNvSpPr txBox="1"/>
          <p:nvPr/>
        </p:nvSpPr>
        <p:spPr>
          <a:xfrm>
            <a:off x="1271909" y="1773797"/>
            <a:ext cx="728769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Visualized vote share &amp; turnout across years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Line charts &amp; area charts for party trend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Identified swing constituencies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Enabled filters (year, region, party)</a:t>
            </a:r>
          </a:p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orange and green lines">
            <a:extLst>
              <a:ext uri="{FF2B5EF4-FFF2-40B4-BE49-F238E27FC236}">
                <a16:creationId xmlns:a16="http://schemas.microsoft.com/office/drawing/2014/main" id="{141EBBEC-36A9-6DBD-432A-17F912FA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7AFC32-EA8F-85C6-339A-EED0EE010476}"/>
              </a:ext>
            </a:extLst>
          </p:cNvPr>
          <p:cNvSpPr txBox="1"/>
          <p:nvPr/>
        </p:nvSpPr>
        <p:spPr>
          <a:xfrm>
            <a:off x="770640" y="196162"/>
            <a:ext cx="776245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Calibri"/>
                <a:cs typeface="Calibri"/>
              </a:rPr>
              <a:t>Historical Trends Dashboard</a:t>
            </a:r>
            <a:endParaRPr lang="en-US" sz="40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89130F58-A2F4-F18B-E080-79BB65C16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EC457D-E5CE-1542-2225-63599B1E9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68" y="1101214"/>
            <a:ext cx="8563897" cy="4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0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971046-E4C0-052B-F252-523FF54DB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Module 3 – Real-Time Results Dashboard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FE89B441-3C8C-7CCA-6D2C-071E39349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F65F46-59F9-29D8-DD8D-3A40FE30DD17}"/>
              </a:ext>
            </a:extLst>
          </p:cNvPr>
          <p:cNvSpPr/>
          <p:nvPr/>
        </p:nvSpPr>
        <p:spPr>
          <a:xfrm>
            <a:off x="450477" y="1604682"/>
            <a:ext cx="8377517" cy="40968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rtl="0"/>
            <a:r>
              <a:rPr lang="en-US" sz="3200" baseline="0" dirty="0">
                <a:latin typeface="Calibri"/>
                <a:ea typeface="Segoe UI"/>
                <a:cs typeface="Segoe UI"/>
              </a:rPr>
              <a:t>• Simulated live result integration (API/mock)</a:t>
            </a:r>
            <a:r>
              <a:rPr lang="en-US" sz="3200" dirty="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 dirty="0">
                <a:latin typeface="Calibri"/>
                <a:ea typeface="Segoe UI"/>
                <a:cs typeface="Segoe UI"/>
              </a:rPr>
              <a:t>• Vote % bar graphs &amp; seat indicators</a:t>
            </a:r>
            <a:r>
              <a:rPr lang="en-US" sz="3200" dirty="0">
                <a:latin typeface="Calibri"/>
                <a:ea typeface="Segoe UI"/>
                <a:cs typeface="Segoe UI"/>
              </a:rPr>
              <a:t>​</a:t>
            </a:r>
          </a:p>
          <a:p>
            <a:r>
              <a:rPr lang="en-US" sz="3200" baseline="0" dirty="0">
                <a:latin typeface="Calibri"/>
                <a:ea typeface="Segoe UI"/>
                <a:cs typeface="Segoe UI"/>
              </a:rPr>
              <a:t>• Interactive filters (region, </a:t>
            </a:r>
            <a:r>
              <a:rPr lang="en-US" sz="3200" dirty="0">
                <a:latin typeface="Calibri"/>
                <a:ea typeface="Segoe UI"/>
                <a:cs typeface="Segoe UI"/>
              </a:rPr>
              <a:t>  </a:t>
            </a:r>
            <a:r>
              <a:rPr lang="en-US" sz="3200" baseline="0" dirty="0">
                <a:latin typeface="Calibri"/>
                <a:ea typeface="Segoe UI"/>
                <a:cs typeface="Segoe UI"/>
              </a:rPr>
              <a:t>party, candidate</a:t>
            </a:r>
            <a:r>
              <a:rPr lang="en-US" sz="3200" dirty="0">
                <a:latin typeface="Calibri"/>
                <a:ea typeface="Segoe UI"/>
                <a:cs typeface="Segoe UI"/>
              </a:rPr>
              <a:t> </a:t>
            </a:r>
            <a:r>
              <a:rPr lang="en-US" sz="3200" baseline="0" dirty="0">
                <a:latin typeface="Calibri"/>
                <a:ea typeface="Segoe UI"/>
                <a:cs typeface="Segoe UI"/>
              </a:rPr>
              <a:t>,year)</a:t>
            </a:r>
            <a:r>
              <a:rPr lang="en-US" sz="3200" dirty="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 dirty="0">
                <a:latin typeface="Calibri"/>
                <a:ea typeface="Segoe UI"/>
                <a:cs typeface="Segoe UI"/>
              </a:rPr>
              <a:t>• Constituency-level drill-down</a:t>
            </a:r>
            <a:r>
              <a:rPr lang="en-US" sz="3200" dirty="0">
                <a:latin typeface="Calibri"/>
                <a:ea typeface="Segoe UI"/>
                <a:cs typeface="Segoe UI"/>
              </a:rPr>
              <a:t>​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orange and green lines">
            <a:extLst>
              <a:ext uri="{FF2B5EF4-FFF2-40B4-BE49-F238E27FC236}">
                <a16:creationId xmlns:a16="http://schemas.microsoft.com/office/drawing/2014/main" id="{92739022-4B7C-32D2-42C4-F446902EB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09AC5E-F79D-E8B5-63B7-900912934F99}"/>
              </a:ext>
            </a:extLst>
          </p:cNvPr>
          <p:cNvSpPr txBox="1"/>
          <p:nvPr/>
        </p:nvSpPr>
        <p:spPr>
          <a:xfrm>
            <a:off x="1261048" y="238198"/>
            <a:ext cx="7162028" cy="1016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Calibri"/>
                <a:cs typeface="Calibri"/>
              </a:rPr>
              <a:t>Real-Time Results Dashboard</a:t>
            </a:r>
            <a:endParaRPr lang="en-US" sz="4000" dirty="0" err="1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FA6CB44E-8EA1-060B-DF08-C727920B3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CE4995-7CE3-1EA5-17F3-780F5863D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60" y="1071716"/>
            <a:ext cx="8504905" cy="47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74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752FB7-D2D7-32E0-1473-6F864F624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18" y="1"/>
            <a:ext cx="9155205" cy="68467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9815"/>
            <a:ext cx="8039100" cy="1086971"/>
          </a:xfrm>
        </p:spPr>
        <p:txBody>
          <a:bodyPr>
            <a:normAutofit fontScale="90000"/>
          </a:bodyPr>
          <a:lstStyle/>
          <a:p>
            <a:r>
              <a:rPr b="1"/>
              <a:t>Module 4 – Turnout &amp; Demographics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DE4528BB-2985-380C-116F-A985DAC41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15375" y="-218696"/>
            <a:ext cx="1343116" cy="11974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9E5246-1536-5349-ED8D-B1F0C6629987}"/>
              </a:ext>
            </a:extLst>
          </p:cNvPr>
          <p:cNvSpPr/>
          <p:nvPr/>
        </p:nvSpPr>
        <p:spPr>
          <a:xfrm>
            <a:off x="753036" y="1548653"/>
            <a:ext cx="7873250" cy="34021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rtl="0"/>
            <a:r>
              <a:rPr lang="en-US" sz="3200" baseline="0" dirty="0">
                <a:latin typeface="Calibri"/>
                <a:ea typeface="Segoe UI"/>
                <a:cs typeface="Segoe UI"/>
              </a:rPr>
              <a:t>Gender-based turnout trends</a:t>
            </a:r>
            <a:r>
              <a:rPr lang="en-US" sz="3200" dirty="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 dirty="0">
                <a:latin typeface="Calibri"/>
                <a:ea typeface="Segoe UI"/>
                <a:cs typeface="Segoe UI"/>
              </a:rPr>
              <a:t>• Age-group participation insights</a:t>
            </a:r>
            <a:r>
              <a:rPr lang="en-US" sz="3200" dirty="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>
                <a:latin typeface="Calibri"/>
                <a:ea typeface="Segoe UI"/>
                <a:cs typeface="Segoe UI"/>
              </a:rPr>
              <a:t>•</a:t>
            </a:r>
            <a:r>
              <a:rPr lang="en-US" sz="3200" baseline="0">
                <a:latin typeface="Calibri"/>
                <a:ea typeface="Segoe UI"/>
                <a:cs typeface="Segoe UI"/>
              </a:rPr>
              <a:t> Heatmaps &amp; pie charts for </a:t>
            </a:r>
            <a:r>
              <a:rPr lang="en-US" sz="3200">
                <a:latin typeface="Calibri"/>
                <a:ea typeface="Segoe UI"/>
                <a:cs typeface="Segoe UI"/>
              </a:rPr>
              <a:t>demographic   analysis</a:t>
            </a:r>
            <a:r>
              <a:rPr lang="en-US" sz="3200" dirty="0">
                <a:latin typeface="Calibri"/>
                <a:ea typeface="Segoe UI"/>
                <a:cs typeface="Segoe UI"/>
              </a:rPr>
              <a:t>​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orange and green lines and buildings&#10;&#10;AI-generated content may be incorrect.">
            <a:extLst>
              <a:ext uri="{FF2B5EF4-FFF2-40B4-BE49-F238E27FC236}">
                <a16:creationId xmlns:a16="http://schemas.microsoft.com/office/drawing/2014/main" id="{EE3B4B1E-5955-4182-F7B9-A015DC68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18" y="1"/>
            <a:ext cx="9155205" cy="6846794"/>
          </a:xfrm>
          <a:prstGeom prst="rect">
            <a:avLst/>
          </a:prstGeom>
        </p:spPr>
      </p:pic>
      <p:pic>
        <p:nvPicPr>
          <p:cNvPr id="4" name="Picture 3" descr="A screenshot of a computer screen">
            <a:extLst>
              <a:ext uri="{FF2B5EF4-FFF2-40B4-BE49-F238E27FC236}">
                <a16:creationId xmlns:a16="http://schemas.microsoft.com/office/drawing/2014/main" id="{3F5380EC-93E1-4D30-FACF-D9B93AF40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45" y="1301562"/>
            <a:ext cx="8120902" cy="4243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673311-1CBD-1AC2-2970-E18855018A86}"/>
              </a:ext>
            </a:extLst>
          </p:cNvPr>
          <p:cNvSpPr txBox="1"/>
          <p:nvPr/>
        </p:nvSpPr>
        <p:spPr>
          <a:xfrm>
            <a:off x="798664" y="280232"/>
            <a:ext cx="66835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Calibri"/>
                <a:cs typeface="Calibri"/>
              </a:rPr>
              <a:t>      Turnout &amp; Demographics</a:t>
            </a:r>
            <a:endParaRPr lang="en-US"/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2360F686-E0F9-90BA-0184-8B7CCC6A2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0884" y="-52598"/>
            <a:ext cx="1343116" cy="119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28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5CE274-E18A-5A70-BFBE-5B687A11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Module 5 – Party &amp; Candidate Performance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E59F7386-5D41-0161-C7B7-7D0338740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01DAF-2656-89AC-1114-340F1D6DC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41" y="1581224"/>
            <a:ext cx="8099235" cy="45491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D09AB-AB3C-FCE3-2C71-51F6ADE6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/>
              <a:t>Architecture Overview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FCF3872-0E57-21A0-AC74-6CDA9140E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B8CC02-113D-E8ED-C05C-4ACA17A59591}"/>
              </a:ext>
            </a:extLst>
          </p:cNvPr>
          <p:cNvSpPr/>
          <p:nvPr/>
        </p:nvSpPr>
        <p:spPr>
          <a:xfrm>
            <a:off x="584949" y="1425392"/>
            <a:ext cx="8108575" cy="35813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Data Ingestion Layer – CSVs &amp; JSON APIs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Transformation Layer – Power Query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Semantic Model – Star Schema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Visualization Layer – Power BI Dashboards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Publishing via Power BI Service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8C0109-A162-714F-F617-246326C3B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Impact &amp; Applications</a:t>
            </a:r>
            <a:endParaRPr lang="en-US" sz="4000" b="1" dirty="0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5C590C9-79F1-4D4E-F5DB-B3A0BF01F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D5B65C-42D3-B9F9-68E4-BA9277B8779E}"/>
              </a:ext>
            </a:extLst>
          </p:cNvPr>
          <p:cNvSpPr/>
          <p:nvPr/>
        </p:nvSpPr>
        <p:spPr>
          <a:xfrm>
            <a:off x="450477" y="1615889"/>
            <a:ext cx="8220635" cy="374948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Supports journalism &amp; political reporting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Enables fast decision-making during elections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Identifies long-term political trends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Compares vote-to-seat conversion efficiency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3200" baseline="0">
                <a:latin typeface="Calibri"/>
                <a:ea typeface="Segoe UI"/>
                <a:cs typeface="Segoe UI"/>
              </a:rPr>
              <a:t>• Adaptable for future elections</a:t>
            </a:r>
            <a:r>
              <a:rPr lang="en-US" sz="3200">
                <a:latin typeface="Calibri"/>
                <a:ea typeface="Segoe UI"/>
                <a:cs typeface="Segoe UI"/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5A2AF0-AB44-3D57-2468-D574DCF7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D20A33-5267-0EBE-9F88-09246302C115}"/>
              </a:ext>
            </a:extLst>
          </p:cNvPr>
          <p:cNvSpPr txBox="1"/>
          <p:nvPr/>
        </p:nvSpPr>
        <p:spPr>
          <a:xfrm>
            <a:off x="953729" y="275303"/>
            <a:ext cx="67350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        Contribution of Team </a:t>
            </a:r>
            <a:endParaRPr lang="en-IN" sz="4000" dirty="0"/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02A0647E-25BD-A236-6A03-0B61738CA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97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492</Words>
  <Application>Microsoft Office PowerPoint</Application>
  <PresentationFormat>On-screen Show (4:3)</PresentationFormat>
  <Paragraphs>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 Electviz: Election Data Visualization for Media Power BI Based Election Analytics Platform </vt:lpstr>
      <vt:lpstr>Problem Statement</vt:lpstr>
      <vt:lpstr>Project Objectives</vt:lpstr>
      <vt:lpstr>Key Outcomes</vt:lpstr>
      <vt:lpstr>Module 1 – Data Integration &amp; Modeling</vt:lpstr>
      <vt:lpstr>PowerPoint Presentation</vt:lpstr>
      <vt:lpstr>PowerPoint Presentation</vt:lpstr>
      <vt:lpstr>Module 2 – Historical Trends Dashboard</vt:lpstr>
      <vt:lpstr>PowerPoint Presentation</vt:lpstr>
      <vt:lpstr>Module 3 – Real-Time Results Dashboard</vt:lpstr>
      <vt:lpstr>PowerPoint Presentation</vt:lpstr>
      <vt:lpstr>Module 4 – Turnout &amp; Demographics</vt:lpstr>
      <vt:lpstr>PowerPoint Presentation</vt:lpstr>
      <vt:lpstr>Module 5 – Party &amp; Candidate Performance</vt:lpstr>
      <vt:lpstr>Architecture Overview</vt:lpstr>
      <vt:lpstr>Impact &amp; Applications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Payal Shinde</dc:creator>
  <cp:keywords/>
  <dc:description>generated using python-pptx</dc:description>
  <cp:lastModifiedBy>Payal Shinde</cp:lastModifiedBy>
  <cp:revision>110</cp:revision>
  <dcterms:created xsi:type="dcterms:W3CDTF">2013-01-27T09:14:16Z</dcterms:created>
  <dcterms:modified xsi:type="dcterms:W3CDTF">2026-03-02T11:16:00Z</dcterms:modified>
  <cp:category/>
</cp:coreProperties>
</file>